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01</a:t>
            </a:r>
            <a:endParaRPr lang="en-US" sz="700" dirty="0"/>
          </a:p>
        </p:txBody>
      </p:sp>
      <p:pic>
        <p:nvPicPr>
          <p:cNvPr id="3" name="Image 0" descr="/Users/mfm/.codex/.chatgpt-projects/g-p-6a9c48b684508191a6d792b88ea543d7/slough-media-walls/assets/burnham-before-after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6263640" y="0"/>
            <a:ext cx="592805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63640" y="0"/>
            <a:ext cx="5928055" cy="6858000"/>
          </a:xfrm>
          <a:prstGeom prst="rect">
            <a:avLst/>
          </a:prstGeom>
          <a:solidFill>
            <a:srgbClr val="171716"/>
          </a:solidFill>
          <a:ln w="12700">
            <a:solidFill>
              <a:srgbClr val="17171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63640" y="0"/>
            <a:ext cx="5928055" cy="6858000"/>
          </a:xfrm>
          <a:prstGeom prst="rect">
            <a:avLst/>
          </a:prstGeom>
          <a:solidFill>
            <a:srgbClr val="171716">
              <a:alpha val="50000"/>
            </a:srgbClr>
          </a:solidFill>
          <a:ln w="12700">
            <a:solidFill>
              <a:srgbClr val="17171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640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+ GROWTH PROPOSAL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11430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wall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the room.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D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digital-first local interior-fit-out brand built to turn intent into consultations, visualised concepts and premium installations.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5623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SLOUGH, BERKSHIRE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02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 website.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consultative sales engine.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 removes the usual friction between inspiration and a site visit: customers can see the work, define the brief and arrive at the conversation more prepared.</a:t>
            </a:r>
            <a:endParaRPr lang="en-US" sz="1500" dirty="0"/>
          </a:p>
        </p:txBody>
      </p:sp>
      <p:pic>
        <p:nvPicPr>
          <p:cNvPr id="6" name="Image 0" descr="/Users/mfm/.codex/.chatgpt-projects/g-p-6a9c48b684508191a6d792b88ea543d7/slough-media-walls/assets/chimney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502920"/>
            <a:ext cx="448056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46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05840" y="32461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PROOF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before/after projects make the value visible.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0" y="3246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51960" y="32461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CONFIGURATOR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5196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explore TV, storage, fire and lighting choices.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05840" y="44805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ENQUIRY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4754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Budget, postcode, timings and photos arrive in one brief.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048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251960" y="44805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HANDOVER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51960" y="4754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free visit; the trade team confirms and closes.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03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CUSTOMER JOURNEY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path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“I like this” to “visit booked”.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3246120"/>
            <a:ext cx="1920240" cy="1371600"/>
          </a:xfrm>
          <a:prstGeom prst="rect">
            <a:avLst/>
          </a:prstGeom>
          <a:solidFill>
            <a:srgbClr val="343530"/>
          </a:solidFill>
          <a:ln w="12700">
            <a:solidFill>
              <a:srgbClr val="3435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4564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376732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4096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D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/ Google / referral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87752" y="3840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2A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80360" y="3246120"/>
            <a:ext cx="1920240" cy="1371600"/>
          </a:xfrm>
          <a:prstGeom prst="rect">
            <a:avLst/>
          </a:prstGeom>
          <a:solidFill>
            <a:srgbClr val="343530"/>
          </a:solidFill>
          <a:ln w="12700">
            <a:solidFill>
              <a:srgbClr val="343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34564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35808" y="376732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35808" y="4096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D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+ after proof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3840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2A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166360" y="3246120"/>
            <a:ext cx="1920240" cy="1371600"/>
          </a:xfrm>
          <a:prstGeom prst="rect">
            <a:avLst/>
          </a:prstGeom>
          <a:solidFill>
            <a:srgbClr val="343530"/>
          </a:solidFill>
          <a:ln w="12700">
            <a:solidFill>
              <a:srgbClr val="343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34564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21808" y="376732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21808" y="4096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D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first concept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59752" y="3840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2A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52360" y="3246120"/>
            <a:ext cx="1920240" cy="1371600"/>
          </a:xfrm>
          <a:prstGeom prst="rect">
            <a:avLst/>
          </a:prstGeom>
          <a:solidFill>
            <a:srgbClr val="343530"/>
          </a:solidFill>
          <a:ln w="12700">
            <a:solidFill>
              <a:srgbClr val="3435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07808" y="34564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07808" y="376732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07808" y="4096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D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consultation slot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45752" y="3840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2A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738360" y="3246120"/>
            <a:ext cx="1920240" cy="1371600"/>
          </a:xfrm>
          <a:prstGeom prst="rect">
            <a:avLst/>
          </a:prstGeom>
          <a:solidFill>
            <a:srgbClr val="B86A3B"/>
          </a:solidFill>
          <a:ln w="12700">
            <a:solidFill>
              <a:srgbClr val="B86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4564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893808" y="376732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93808" y="4096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D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visit → quote → install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55321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8C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website’s job is not to replace the craftsperson. It makes the first conversation better, and protects time for the appointments most likely to convert.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04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SCALABLE OPERATING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local launch.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operating system.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2194560"/>
            <a:ext cx="4800600" cy="658368"/>
          </a:xfrm>
          <a:prstGeom prst="rect">
            <a:avLst/>
          </a:prstGeom>
          <a:solidFill>
            <a:srgbClr val="E9E6DE"/>
          </a:solidFill>
          <a:ln w="12700">
            <a:solidFill>
              <a:srgbClr val="D5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225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57400" y="23042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· configurator · chatbot · booking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8529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2826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LAYER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57400" y="326440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· concept saves · uploads · qualification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813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11480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2428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LAYER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57400" y="422452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· estimate queue · installer allocation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507492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2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52029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 LAYER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51846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events · audiences · reporting · retargeting</a:t>
            </a:r>
            <a:endParaRPr lang="en-US" sz="1200" dirty="0"/>
          </a:p>
        </p:txBody>
      </p:sp>
      <p:pic>
        <p:nvPicPr>
          <p:cNvPr id="20" name="Image 0" descr="/Users/mfm/.codex/.chatgpt-projects/g-p-6a9c48b684508191a6d792b88ea543d7/slough-media-walls/assets/charcoal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960120"/>
            <a:ext cx="5148072" cy="41605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46520" y="5577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by duplicating the operating playbook into nearby towns — not by adding more manual chasing.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 · META ADS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the transformation,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construction.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2880360"/>
            <a:ext cx="3291840" cy="2011680"/>
          </a:xfrm>
          <a:prstGeom prst="rect">
            <a:avLst/>
          </a:prstGeom>
          <a:solidFill>
            <a:srgbClr val="2B2C29"/>
          </a:solidFill>
          <a:ln w="12700">
            <a:solidFill>
              <a:srgbClr val="2B2C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1272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34564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9136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before/after reels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radius: Slough + 20 mi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Creative: reveal, fire glow, storage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880360"/>
            <a:ext cx="3291840" cy="2011680"/>
          </a:xfrm>
          <a:prstGeom prst="rect">
            <a:avLst/>
          </a:prstGeom>
          <a:solidFill>
            <a:srgbClr val="2B2C29"/>
          </a:solidFill>
          <a:ln w="12700">
            <a:solidFill>
              <a:srgbClr val="2B2C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1272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0" y="34564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9136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Carousel: 3 wall layouts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Landing: project detail + visualiser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reviews, process, finish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880360"/>
            <a:ext cx="3291840" cy="2011680"/>
          </a:xfrm>
          <a:prstGeom prst="rect">
            <a:avLst/>
          </a:prstGeom>
          <a:solidFill>
            <a:srgbClr val="B86A3B"/>
          </a:solidFill>
          <a:ln w="12700">
            <a:solidFill>
              <a:srgbClr val="B86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1272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66760" y="34564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39136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Click-to-message + booking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form with postcode + budget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D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 saved concepts &amp; video viewers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5321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test plan: 3 concepts × 2 hooks × 2 audiences. Keep the strongest visual proof, then optimise toward booked consultations—not cheap clicks.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06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90-DAY LAUNCH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useful.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make it repeatable.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2926080"/>
            <a:ext cx="3337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31546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1–30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" y="3474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395020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site, analytics, calendar, CRM pipeline, local GBP optimisation. Photograph 6 finished jobs.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926080"/>
            <a:ext cx="3337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31546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31–60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90288" y="3474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395020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Meta creative tests and retargeting. Publish 3 case studies. Train bot handover and lead response.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2926080"/>
            <a:ext cx="3337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31546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61–90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85048" y="3474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5048" y="395020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lead-to-visit and visit-to-quote conversion. Standardise quote templates. Expand radius only when capacity holds.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5715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signals: more enquiry completeness · faster first response · stronger site-visit rate · richer portfolios · measurable cost per booked consultation.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B3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07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2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DECISION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2517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local category leader.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A2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to turn a highly visual craft into a more discoverable, more credible and more operationally efficient service business.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2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34930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51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brand name, domain and offer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2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39959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51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calendar, CRM and Resend email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2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44988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51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 / generate a launch portfolio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2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5001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51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local Meta test campaigns</a:t>
            </a:r>
            <a:endParaRPr lang="en-US" sz="1400" dirty="0"/>
          </a:p>
        </p:txBody>
      </p:sp>
      <p:pic>
        <p:nvPicPr>
          <p:cNvPr id="14" name="Image 0" descr="/Users/mfm/.codex/.chatgpt-projects/g-p-6a9c48b684508191a6d792b88ea543d7/slough-media-walls/assets/burnham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640080"/>
            <a:ext cx="4069080" cy="54406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60807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A2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READY TO BUILD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7</Slides>
	<Notes>7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7</vt:i4></vt:variant>
		</vt:vector>
	</HeadingPairs>
	<TitlesOfParts>
		<vt:vector size="10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
		</vt:vector>
	</TitlesOfParts>
	<Company>Form & Frame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&amp; Frame — Make it real</dc:title>
  <dc:subject>Product, growth and operating proposal</dc:subject>
  <dc:creator>Form &amp; Frame</dc:creator>
  <cp:lastModifiedBy>Form &amp; Frame</cp:lastModifiedBy>
  <cp:revision>1</cp:revision>
  <dcterms:created xsi:type="dcterms:W3CDTF">2026-09-05T20:22:17Z</dcterms:created>
  <dcterms:modified xsi:type="dcterms:W3CDTF">2026-09-05T20:22:17Z</dcterms:modified>
</cp:coreProperties>
</file>